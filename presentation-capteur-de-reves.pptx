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dc34935-2152-b414-14c8-5e19029d4f92}">
          <p14:sldIdLst>
            <p14:sldId id="256"/>
            <p14:sldId id="257"/>
          </p14:sldIdLst>
        </p14:section>
        <p14:section name="Le peuple" id="{62860640-4d38-eef1-3ede-a32039b3febb}">
          <p14:sldIdLst>
            <p14:sldId id="258"/>
            <p14:sldId id="259"/>
            <p14:sldId id="260"/>
          </p14:sldIdLst>
        </p14:section>
        <p14:section name="La légende" id="{2ede15f5-aec3-e476-fa34-a955acea4e4c}">
          <p14:sldIdLst>
            <p14:sldId id="261"/>
            <p14:sldId id="262"/>
            <p14:sldId id="263"/>
          </p14:sldIdLst>
        </p14:section>
        <p14:section name="Conclusion" id="{485d2af0-f0ba-6487-5850-61efa84fa12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1 : Bonjour ! Aujourd'hui, nous allons vous présenter les Ojibwés et la légende du capteur de rêves.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1 : Les Ojibwés sont un des plus grands groupes autochtones d'Amérique du Nord. Ils s'appellent eux-mêmes Anishinaabe.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2 : Les Ojibwés vivent autour des Grands Lacs. Au Canada, surtout en Ontario, au Manitoba et en Saskatchewan.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2 : Ils vivaient dans des wigwams, voyageaient en canot d'écorce, récoltaient le riz sauvage et le sirop d'érable.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3 : Leur langue est l'anishinaabemowin. Boozhoo veut dire bonjour et miigwech veut dire merci. Ils suivent les Sept enseignements des grands-pères.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1 : Il y a longtemps, la Femme Araignée, Asibikaashi, protégeait les enfants du peuple ojibwé.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2 : Le peuple s'est dispersé. La Femme Araignée ne pouvait plus visiter chaque enfant, alors les mères et les grands-mères ont fabriqué des toiles magiques.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3 : Les mauvais rêves restent pris dans la toile et disparaissent au soleil du matin. Les bons rêves passent par le centre et descendent par la plume. Morale : prendre soin des plus petits.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4 : Voici le capteur de rêves que nous avons fabriqué.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Élève 4 : Miigwech ! Merci de nous avoir écoutés. Avez-vous des questions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0A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0A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SECTION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ous-titre"/>
          <p:cNvSpPr txBox="1"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Les Ojibwés · Anishinaabe</a:t>
            </a:r>
            <a:endParaRPr lang="en-US" sz="1600" dirty="0"/>
          </a:p>
        </p:txBody>
      </p:sp>
      <p:sp>
        <p:nvSpPr>
          <p:cNvPr id="4" name="Membres du groupe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Élève 1  ·  Élève 2  ·  Élève 3  ·  Élève 4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01 · LE PEUPLE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Qui sont les Ojibwés ?</a:t>
            </a:r>
            <a:endParaRPr lang="en-US" sz="3600" dirty="0"/>
          </a:p>
        </p:txBody>
      </p:sp>
      <p:sp>
        <p:nvSpPr>
          <p:cNvPr id="6" name="Carte nom"/>
          <p:cNvSpPr/>
          <p:nvPr/>
        </p:nvSpPr>
        <p:spPr>
          <a:xfrm>
            <a:off x="548640" y="1554480"/>
            <a:ext cx="3291840" cy="2926080"/>
          </a:xfrm>
          <a:prstGeom prst="roundRect">
            <a:avLst>
              <a:gd name="adj" fmla="val 375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Ils s'appellent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Anishinaabe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bg1"/>
                </a:solidFill>
              </a:rPr>
              <a:t>« les vrais gens »</a:t>
            </a:r>
            <a:endParaRPr lang="en-US" sz="1500" dirty="0"/>
          </a:p>
        </p:txBody>
      </p:sp>
      <p:sp>
        <p:nvSpPr>
          <p:cNvPr id="8" name="Fait 1"/>
          <p:cNvSpPr/>
          <p:nvPr/>
        </p:nvSpPr>
        <p:spPr>
          <a:xfrm>
            <a:off x="4114800" y="1554480"/>
            <a:ext cx="448056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1691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 des plus grands groupes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autochtones d'Amérique du Nord</a:t>
            </a:r>
            <a:endParaRPr lang="en-US" sz="1500" dirty="0"/>
          </a:p>
        </p:txBody>
      </p:sp>
      <p:sp>
        <p:nvSpPr>
          <p:cNvPr id="11" name="Fait 2"/>
          <p:cNvSpPr/>
          <p:nvPr/>
        </p:nvSpPr>
        <p:spPr>
          <a:xfrm>
            <a:off x="4114800" y="2560320"/>
            <a:ext cx="448056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0" y="2743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Autour des Grands Lacs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 Canada et aux États-Unis</a:t>
            </a:r>
            <a:endParaRPr lang="en-US" sz="1500" dirty="0"/>
          </a:p>
        </p:txBody>
      </p:sp>
      <p:sp>
        <p:nvSpPr>
          <p:cNvPr id="14" name="Fait 3"/>
          <p:cNvSpPr/>
          <p:nvPr/>
        </p:nvSpPr>
        <p:spPr>
          <a:xfrm>
            <a:off x="4114800" y="3566160"/>
            <a:ext cx="448056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97680" y="3749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3703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Leur langue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l'anishinaabemowin (l'ojibwé)</a:t>
            </a:r>
            <a:endParaRPr lang="en-US" sz="15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02 · LA RÉGION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Où vivent-ils ?</a:t>
            </a:r>
            <a:endParaRPr lang="en-US" sz="3600" dirty="0"/>
          </a:p>
        </p:txBody>
      </p:sp>
      <p:sp>
        <p:nvSpPr>
          <p:cNvPr id="6" name="Photo - Carte des Grands Lacs (native-land.ca)"/>
          <p:cNvSpPr txBox="1"/>
          <p:nvPr/>
        </p:nvSpPr>
        <p:spPr>
          <a:xfrm>
            <a:off x="548640" y="1554480"/>
            <a:ext cx="4572000" cy="2926080"/>
          </a:xfrm>
          <a:prstGeom prst="roundRect">
            <a:avLst>
              <a:gd name="adj" fmla="val 375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Carte des Grands Lacs (native-land.ca)</a:t>
            </a:r>
            <a:endParaRPr lang="en-US" sz="1000" dirty="0"/>
          </a:p>
        </p:txBody>
      </p:sp>
      <p:sp>
        <p:nvSpPr>
          <p:cNvPr id="7" name="Carte provinces"/>
          <p:cNvSpPr/>
          <p:nvPr/>
        </p:nvSpPr>
        <p:spPr>
          <a:xfrm>
            <a:off x="5394960" y="1554480"/>
            <a:ext cx="3200400" cy="2926080"/>
          </a:xfrm>
          <a:prstGeom prst="roundRect">
            <a:avLst>
              <a:gd name="adj" fmla="val 375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78308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AU CANADA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Ontario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Manitoba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Saskatchewan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AUX ÉTATS-UNIS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Minnesota, Wisconsin, Michigan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bg2"/>
                </a:solidFill>
              </a:rPr>
              <a:t>Forêts, lacs et rivières</a:t>
            </a:r>
            <a:endParaRPr lang="en-US" sz="15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03 · LA VIE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vie des Ojibwés</a:t>
            </a:r>
            <a:endParaRPr lang="en-US" sz="3600" dirty="0"/>
          </a:p>
        </p:txBody>
      </p:sp>
      <p:sp>
        <p:nvSpPr>
          <p:cNvPr id="6" name="Wigwams"/>
          <p:cNvSpPr/>
          <p:nvPr/>
        </p:nvSpPr>
        <p:spPr>
          <a:xfrm>
            <a:off x="548640" y="155448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Photo - wigwams"/>
          <p:cNvSpPr txBox="1"/>
          <p:nvPr/>
        </p:nvSpPr>
        <p:spPr>
          <a:xfrm>
            <a:off x="685800" y="1691640"/>
            <a:ext cx="15544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wigwams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Wigwams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Maisons rondes en bois et en écorce</a:t>
            </a:r>
            <a:endParaRPr lang="en-US" sz="1500" dirty="0"/>
          </a:p>
        </p:txBody>
      </p:sp>
      <p:sp>
        <p:nvSpPr>
          <p:cNvPr id="9" name="Canots"/>
          <p:cNvSpPr/>
          <p:nvPr/>
        </p:nvSpPr>
        <p:spPr>
          <a:xfrm>
            <a:off x="2624328" y="155448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Photo - canots"/>
          <p:cNvSpPr txBox="1"/>
          <p:nvPr/>
        </p:nvSpPr>
        <p:spPr>
          <a:xfrm>
            <a:off x="2761488" y="1691640"/>
            <a:ext cx="15544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canots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807208" y="32004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Canots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En écorce de bouleau, pour les lacs</a:t>
            </a:r>
            <a:endParaRPr lang="en-US" sz="1500" dirty="0"/>
          </a:p>
        </p:txBody>
      </p:sp>
      <p:sp>
        <p:nvSpPr>
          <p:cNvPr id="12" name="Riz sauvage"/>
          <p:cNvSpPr/>
          <p:nvPr/>
        </p:nvSpPr>
        <p:spPr>
          <a:xfrm>
            <a:off x="4700016" y="155448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3" name="Photo - riz sauvage"/>
          <p:cNvSpPr txBox="1"/>
          <p:nvPr/>
        </p:nvSpPr>
        <p:spPr>
          <a:xfrm>
            <a:off x="4837176" y="1691640"/>
            <a:ext cx="15544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riz sauvage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882896" y="32004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Riz sauvage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Le manoomin, récolté en canot</a:t>
            </a:r>
            <a:endParaRPr lang="en-US" sz="1500" dirty="0"/>
          </a:p>
        </p:txBody>
      </p:sp>
      <p:sp>
        <p:nvSpPr>
          <p:cNvPr id="15" name="Sirop d'érable"/>
          <p:cNvSpPr/>
          <p:nvPr/>
        </p:nvSpPr>
        <p:spPr>
          <a:xfrm>
            <a:off x="6775704" y="155448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6" name="Photo - sirop d'érable"/>
          <p:cNvSpPr txBox="1"/>
          <p:nvPr/>
        </p:nvSpPr>
        <p:spPr>
          <a:xfrm>
            <a:off x="6912864" y="1691640"/>
            <a:ext cx="15544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sirop d'érable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958584" y="32004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Sirop d'érable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Récolté au printemps</a:t>
            </a:r>
            <a:endParaRPr lang="en-US" sz="15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04 · LA CULTURE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Langue et enseignements</a:t>
            </a:r>
            <a:endParaRPr lang="en-US" sz="3600" dirty="0"/>
          </a:p>
        </p:txBody>
      </p:sp>
      <p:sp>
        <p:nvSpPr>
          <p:cNvPr id="6" name="Carte langue"/>
          <p:cNvSpPr/>
          <p:nvPr/>
        </p:nvSpPr>
        <p:spPr>
          <a:xfrm>
            <a:off x="548640" y="1554480"/>
            <a:ext cx="3291840" cy="2926080"/>
          </a:xfrm>
          <a:prstGeom prst="roundRect">
            <a:avLst>
              <a:gd name="adj" fmla="val 375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QUELQUES MOTS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</a:rPr>
              <a:t>Boozhoo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Bonjour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</a:rPr>
              <a:t>Miigwech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Merci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LES SEPT ENSEIGNEMENTS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01168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Sagesse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01168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2"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Amour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265176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3">
              <a:alpha val="25000"/>
            </a:schemeClr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Respect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65176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4">
              <a:alpha val="25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Bravoure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32918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5">
              <a:alpha val="25000"/>
            </a:schemeClr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Honnêteté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2918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6">
              <a:alpha val="25000"/>
            </a:schemeClr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Humilité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393192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Vérité</a:t>
            </a:r>
            <a:endParaRPr lang="en-US" sz="14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LA LÉGENDE · 1/3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Femme Araignée</a:t>
            </a:r>
            <a:endParaRPr lang="en-US" sz="3600" dirty="0"/>
          </a:p>
        </p:txBody>
      </p:sp>
      <p:sp>
        <p:nvSpPr>
          <p:cNvPr id="6" name="Carte"/>
          <p:cNvSpPr/>
          <p:nvPr/>
        </p:nvSpPr>
        <p:spPr>
          <a:xfrm>
            <a:off x="548640" y="1554480"/>
            <a:ext cx="4480560" cy="2926080"/>
          </a:xfrm>
          <a:prstGeom prst="roundRect">
            <a:avLst>
              <a:gd name="adj" fmla="val 375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Il y a longtemps, la Femme Araignée, </a:t>
            </a:r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Asibikaashi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, protégeait les enfants du peuple ojibwé.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Chaque matin, elle tissait sa toile au-dessus de leur lit pour attraper le soleil et les garder en sécurité.</a:t>
            </a:r>
            <a:endParaRPr lang="en-US" sz="1600" dirty="0"/>
          </a:p>
        </p:txBody>
      </p:sp>
      <p:sp>
        <p:nvSpPr>
          <p:cNvPr id="8" name="Photo - la Femme Araignée"/>
          <p:cNvSpPr txBox="1"/>
          <p:nvPr/>
        </p:nvSpPr>
        <p:spPr>
          <a:xfrm>
            <a:off x="5303520" y="1554480"/>
            <a:ext cx="3291840" cy="2926080"/>
          </a:xfrm>
          <a:prstGeom prst="roundRect">
            <a:avLst>
              <a:gd name="adj" fmla="val 375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la Femme Araignée</a:t>
            </a:r>
            <a:endParaRPr lang="en-US" sz="1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LA LÉGENDE · 2/3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toile magique</a:t>
            </a:r>
            <a:endParaRPr lang="en-US" sz="3600" dirty="0"/>
          </a:p>
        </p:txBody>
      </p:sp>
      <p:sp>
        <p:nvSpPr>
          <p:cNvPr id="6" name="Photo - un capteur de rêves"/>
          <p:cNvSpPr txBox="1"/>
          <p:nvPr/>
        </p:nvSpPr>
        <p:spPr>
          <a:xfrm>
            <a:off x="548640" y="1554480"/>
            <a:ext cx="3291840" cy="2926080"/>
          </a:xfrm>
          <a:prstGeom prst="roundRect">
            <a:avLst>
              <a:gd name="adj" fmla="val 375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un capteur de rêves</a:t>
            </a:r>
            <a:endParaRPr lang="en-US" sz="1000" dirty="0"/>
          </a:p>
        </p:txBody>
      </p:sp>
      <p:sp>
        <p:nvSpPr>
          <p:cNvPr id="7" name="Carte"/>
          <p:cNvSpPr/>
          <p:nvPr/>
        </p:nvSpPr>
        <p:spPr>
          <a:xfrm>
            <a:off x="4114800" y="1554480"/>
            <a:ext cx="4480560" cy="2926080"/>
          </a:xfrm>
          <a:prstGeom prst="roundRect">
            <a:avLst>
              <a:gd name="adj" fmla="val 375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89120" y="17830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Le peuple s'est dispersé partout sur la terre. La Femme Araignée ne pouvait plus visiter chaque enfant.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Alors les mères et les grands-mères ont tissé des </a:t>
            </a:r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toiles magiques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sur des cercles de saule, pour les accrocher au-dessus des bébés.</a:t>
            </a:r>
            <a:endParaRPr lang="en-US" sz="16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LA LÉGENDE · 3/3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Bons rêves, mauvais rêves</a:t>
            </a:r>
            <a:endParaRPr lang="en-US" sz="3600" dirty="0"/>
          </a:p>
        </p:txBody>
      </p:sp>
      <p:sp>
        <p:nvSpPr>
          <p:cNvPr id="6" name="MAUVAIS RÊVES"/>
          <p:cNvSpPr/>
          <p:nvPr/>
        </p:nvSpPr>
        <p:spPr>
          <a:xfrm>
            <a:off x="548640" y="1554480"/>
            <a:ext cx="3931920" cy="1783080"/>
          </a:xfrm>
          <a:prstGeom prst="roundRect">
            <a:avLst>
              <a:gd name="adj" fmla="val 6154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MAUVAIS RÊVES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Ils restent pris dans la toile et disparaissent au soleil du matin.</a:t>
            </a:r>
            <a:endParaRPr lang="en-US" sz="1500" dirty="0"/>
          </a:p>
        </p:txBody>
      </p:sp>
      <p:sp>
        <p:nvSpPr>
          <p:cNvPr id="8" name="BONS RÊVES"/>
          <p:cNvSpPr/>
          <p:nvPr/>
        </p:nvSpPr>
        <p:spPr>
          <a:xfrm>
            <a:off x="4663440" y="1554480"/>
            <a:ext cx="3931920" cy="1783080"/>
          </a:xfrm>
          <a:prstGeom prst="roundRect">
            <a:avLst>
              <a:gd name="adj" fmla="val 6154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7830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BONS RÊVES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Ils passent par le petit trou au centre et descendent doucement par la plume.</a:t>
            </a:r>
            <a:endParaRPr lang="en-US" sz="1500" dirty="0"/>
          </a:p>
        </p:txBody>
      </p:sp>
      <p:sp>
        <p:nvSpPr>
          <p:cNvPr id="10" name="Morale"/>
          <p:cNvSpPr txBox="1"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MORALE   </a:t>
            </a:r>
            <a:pPr algn="ctr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On protège les plus petits, même quand on ne peut pas être là.</a:t>
            </a:r>
            <a:endParaRPr lang="en-US" sz="1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05 · NOTRE PROJET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Notre capteur de rêves</a:t>
            </a:r>
            <a:endParaRPr lang="en-US" sz="3600" dirty="0"/>
          </a:p>
        </p:txBody>
      </p:sp>
      <p:sp>
        <p:nvSpPr>
          <p:cNvPr id="6" name="Photo - notre capteur de rêves"/>
          <p:cNvSpPr txBox="1"/>
          <p:nvPr/>
        </p:nvSpPr>
        <p:spPr>
          <a:xfrm>
            <a:off x="548640" y="1554480"/>
            <a:ext cx="4572000" cy="2926080"/>
          </a:xfrm>
          <a:prstGeom prst="roundRect">
            <a:avLst>
              <a:gd name="adj" fmla="val 375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notre capteur de rêves</a:t>
            </a:r>
            <a:endParaRPr lang="en-US" sz="1000" dirty="0"/>
          </a:p>
        </p:txBody>
      </p:sp>
      <p:sp>
        <p:nvSpPr>
          <p:cNvPr id="7" name="Carte materiel"/>
          <p:cNvSpPr/>
          <p:nvPr/>
        </p:nvSpPr>
        <p:spPr>
          <a:xfrm>
            <a:off x="5394960" y="1554480"/>
            <a:ext cx="3200400" cy="2926080"/>
          </a:xfrm>
          <a:prstGeom prst="roundRect">
            <a:avLst>
              <a:gd name="adj" fmla="val 3750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78308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MATÉRIEL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Un cercle (branche ou anneau)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 la ficelle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Des perles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Des plumes</a:t>
            </a:r>
            <a:endParaRPr lang="en-US" sz="15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ani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Titre merci"/>
          <p:cNvSpPr txBox="1"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effectLst>
                  <a:glow rad="152400">
                    <a:srgbClr val="3CFFA0">
                      <a:alpha val="45000"/>
                    </a:srgbClr>
                  </a:glow>
                </a:effectLst>
              </a:rPr>
              <a:t>Miigwech !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Merci de nous avoir écoutés</a:t>
            </a:r>
            <a:endParaRPr lang="en-US" sz="1600" dirty="0"/>
          </a:p>
        </p:txBody>
      </p:sp>
      <p:sp>
        <p:nvSpPr>
          <p:cNvPr id="6" name="Carte sources"/>
          <p:cNvSpPr/>
          <p:nvPr/>
        </p:nvSpPr>
        <p:spPr>
          <a:xfrm>
            <a:off x="1371600" y="2377440"/>
            <a:ext cx="6400800" cy="2240280"/>
          </a:xfrm>
          <a:prstGeom prst="roundRect">
            <a:avLst>
              <a:gd name="adj" fmla="val 4898"/>
            </a:avLst>
          </a:prstGeom>
          <a:solidFill>
            <a:schemeClr val="tx2">
              <a:alpha val="8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45920" y="256032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SOURCES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L'Encyclopédie canadienne, « Ojibwé » : thecanadianencyclopedia.ca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Musée national des Indiens d'Amérique : americanindian.si.edu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Native Land Digital : native-land.ca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Photos : Wikimedia Commons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Aurores boreales">
  <a:themeElements>
    <a:clrScheme name="Aurores boreales">
      <a:dk1>
        <a:srgbClr val="0A1224"/>
      </a:dk1>
      <a:lt1>
        <a:srgbClr val="FFFFFF"/>
      </a:lt1>
      <a:dk2>
        <a:srgbClr val="0E1A33"/>
      </a:dk2>
      <a:lt2>
        <a:srgbClr val="C9D4E8"/>
      </a:lt2>
      <a:accent1>
        <a:srgbClr val="3CFFA0"/>
      </a:accent1>
      <a:accent2>
        <a:srgbClr val="2EE6E6"/>
      </a:accent2>
      <a:accent3>
        <a:srgbClr val="A066FF"/>
      </a:accent3>
      <a:accent4>
        <a:srgbClr val="FF5AC8"/>
      </a:accent4>
      <a:accent5>
        <a:srgbClr val="FFD166"/>
      </a:accent5>
      <a:accent6>
        <a:srgbClr val="7FB2FF"/>
      </a:accent6>
      <a:hlink>
        <a:srgbClr val="2EE6E6"/>
      </a:hlink>
      <a:folHlink>
        <a:srgbClr val="A066FF"/>
      </a:folHlink>
    </a:clrScheme>
    <a:fontScheme name="Aurores boreal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légende du capteur de rêves</dc:title>
  <dc:subject>PptxGenJS Presentation</dc:subject>
  <dc:creator>PptxGenJS</dc:creator>
  <cp:lastModifiedBy>PptxGenJS</cp:lastModifiedBy>
  <cp:revision>1</cp:revision>
  <dcterms:created xsi:type="dcterms:W3CDTF">2026-10-05T04:00:50Z</dcterms:created>
  <dcterms:modified xsi:type="dcterms:W3CDTF">2026-10-05T04:00:50Z</dcterms:modified>
</cp:coreProperties>
</file>